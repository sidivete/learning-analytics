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5"/>
    <p:restoredTop sz="94668"/>
  </p:normalViewPr>
  <p:slideViewPr>
    <p:cSldViewPr snapToGrid="0" snapToObjects="1">
      <p:cViewPr>
        <p:scale>
          <a:sx n="95" d="100"/>
          <a:sy n="95" d="100"/>
        </p:scale>
        <p:origin x="1008" y="6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2B69E-2C47-5A4D-AE2F-5C4AEA3645E3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28060-6939-2D46-BC61-E2F7FF4B42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15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nettoyage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révélé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deux types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1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exacts - 28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identiques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près.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bug technique de double-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enregistrement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Suppression avec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drop_duplicates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2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Répétitions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- 224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fait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double-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créé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masque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booléen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détecter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supprimer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 : conversion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datetime et extraction des features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temporelles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Résultat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dataset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nettoyé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15 975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lignes</a:t>
            </a:r>
            <a:r>
              <a:rPr lang="fr-FR" dirty="0">
                <a:effectLst/>
              </a:rPr>
              <a:t> </a:t>
            </a:r>
          </a:p>
          <a:p>
            <a:r>
              <a:rPr lang="fr-FR" dirty="0">
                <a:effectLst/>
              </a:rPr>
              <a:t>--------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nettoyage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données.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montre les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répétitions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identiques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moins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5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double-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bugs de navigation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pas des actions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intentionnelles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certains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beaucoup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répétitions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jusqu’à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 pour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l’étudiant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322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d’autres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très peu.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 total,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224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type. Je les ai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supprimées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faussent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l’analyse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double-clique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n’est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 plus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qu’un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nettoyage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données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identifier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supprimer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bruit technique.”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28060-6939-2D46-BC61-E2F7FF4B42D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085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Le pic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d’activité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novembre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période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examens.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travaillent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plus le weekend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qu’en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8-11h, 14h-22h.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Comportemental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58% des actions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les Tests/Quiz. Le forum est quasi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inutilisé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1%.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Grande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disparité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 1 à 1782 actions.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médiane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à 71,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montre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quelques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moyenne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 le haut.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corrélation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actions-note est de 0.35.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Ressources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Sur 108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ressources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disponibles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moyenne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23.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corrélation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ressources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-note est de 0.44,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meilleure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nombre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d’actions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28060-6939-2D46-BC61-E2F7FF4B42D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164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trois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histogrammes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distribution des features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créées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Intensité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moyenne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(gauche)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Distribution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asymétrique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droite.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(5-10 actions/jour),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quelques-uns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jusqu’à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facteur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#1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prédiction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(16.4%).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Ratio étude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Très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concentré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0-1.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plupart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font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plus de tests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consultations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Un ratio &lt; 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plus de pratique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théorie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Taux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procrastination (droite)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Presque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!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qu’ils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commencé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travailler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tôt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semestre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Cette variable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importance quasi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(0.9%) car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discrimine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28060-6939-2D46-BC61-E2F7FF4B42D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78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Feature Engineering 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l’étape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logs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bruts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tableau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colonnes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Engagement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nb_actions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(volume total),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nb_jours_actifs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régularité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intensite_moyenne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nb_actions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divisé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nb_jours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travail).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nb_ressources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ressources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différentes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consultées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Comportement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nb_tests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nb_consultations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ratio_etude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l’équilibre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théorie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/pratique.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actions_weekend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actions_soir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taux_procrastination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L’intensite_moyenne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s’est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révélée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être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variable la plus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prédictive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16.4%.”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28060-6939-2D46-BC61-E2F7FF4B42D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422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classification 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Régression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Accuracy test 58%,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CV score de 65%. AUC de 0.73.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champion car il est stable 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 : Accuracy test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impressionnante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74%,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CV score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seulement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58%. Cet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écart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révèle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overfitting.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SVM : 63% test, 59% CV. Performances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intermédiaires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Régression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Rasoir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d’Ockham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avec un petit dataset,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plus simple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généralise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courbe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ROC montre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AUC de 0.73,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discrimine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73%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fr-FR" dirty="0">
                <a:effectLst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Régression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sur le jeu de test (19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 de la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matrice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Vrais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Négatifs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Prédits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réellement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✓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Vrais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Prédits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réussite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réellement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réussite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✓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Faux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Prédits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réussite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échoué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✗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Faux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Négatifs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Prédits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réussi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✗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conservateur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détecte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bien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échecs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(7 sur 10)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réussites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 sur 9).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(7+4) / 19 =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58%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  <a:p>
            <a:r>
              <a:rPr lang="fr-FR" dirty="0"/>
              <a:t>---------------------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courbe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évalue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discriminer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classes.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Axe 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Faux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erreurs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les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échecs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Axe 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détection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réussites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Ligne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pointillée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aléatoire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(AUC = 0.50) -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Courbe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Mon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(AUC =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0.73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Interprétation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Plus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courbe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coin supérieur gauche,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meilleur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Mon AUC de 0.73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73% des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réussit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un qui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échoue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Verdict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Un AUC de 0.73 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considéré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sciences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fait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nettement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mieux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hasard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28060-6939-2D46-BC61-E2F7FF4B42D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18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54880" y="1645920"/>
            <a:ext cx="274320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17190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PROJET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903" y="2468880"/>
            <a:ext cx="1054788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fr-FR" dirty="0"/>
              <a:t>PRÉDICTION DE LA RÉUSSITE ÉTUDIANTE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3C5FD"/>
                </a:solidFill>
              </a:defRPr>
            </a:pPr>
            <a:r>
              <a:rPr dirty="0" err="1"/>
              <a:t>Analyse</a:t>
            </a:r>
            <a:r>
              <a:rPr dirty="0"/>
              <a:t> des Traces </a:t>
            </a:r>
            <a:r>
              <a:rPr dirty="0" err="1"/>
              <a:t>Numériques</a:t>
            </a:r>
            <a:r>
              <a:rPr dirty="0"/>
              <a:t> via Machine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794760"/>
            <a:ext cx="2103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119B13D-667E-B916-9908-C3DE3D00AF0F}"/>
              </a:ext>
            </a:extLst>
          </p:cNvPr>
          <p:cNvSpPr txBox="1"/>
          <p:nvPr/>
        </p:nvSpPr>
        <p:spPr>
          <a:xfrm>
            <a:off x="3291840" y="5299948"/>
            <a:ext cx="5658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>
                <a:solidFill>
                  <a:srgbClr val="93C5FD"/>
                </a:solidFill>
              </a:rPr>
              <a:t>Préparé par : Sidi BEDDY EL MOUSTAPHA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Problématique &amp; Objectifs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91639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Question : Peut-on prédire la réussite d'un apprenant via ses traces numériques ?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68879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Objectif : Construire un modèle de classification binaire (réussite / échec)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4612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Enjeu métier : Identifier précocement les étudiants à risque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2336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Approche : Pipeline Data Science complet (ETL → EDA → ML → Application)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Contrainte : Dataset limité (95 étudiants exploitables)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34557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/>
              <a:t>Architecture </a:t>
            </a:r>
            <a:r>
              <a:rPr dirty="0" err="1"/>
              <a:t>Globale</a:t>
            </a:r>
            <a:r>
              <a:rPr dirty="0"/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1737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1737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19" y="205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21214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10896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Logs ARCHE</a:t>
            </a:r>
            <a:br/>
            <a:r>
              <a:t>Notes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274320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1828800"/>
            <a:ext cx="1737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40280" y="1828800"/>
            <a:ext cx="17373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880360" y="205740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21214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ETL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10896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Nettoyage</a:t>
            </a:r>
            <a:br/>
            <a:r>
              <a:t>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7" y="274320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1828800"/>
            <a:ext cx="1737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60520" y="1828800"/>
            <a:ext cx="1737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0574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214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EDA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10896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Analyse</a:t>
            </a:r>
            <a:br/>
            <a:r>
              <a:t>4 Axes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6167" y="274320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1828800"/>
            <a:ext cx="1737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80760" y="1828800"/>
            <a:ext cx="17373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20840" y="20574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21214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10896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10 Variables</a:t>
            </a:r>
            <a:br/>
            <a:r>
              <a:t>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274320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1828800"/>
            <a:ext cx="1737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01000" y="1828800"/>
            <a:ext cx="17373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641080" y="205740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21214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432" y="3039148"/>
            <a:ext cx="1053494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rPr dirty="0"/>
              <a:t>Logistic Reg.</a:t>
            </a:r>
            <a:br>
              <a:rPr dirty="0"/>
            </a:br>
            <a:r>
              <a:rPr dirty="0"/>
              <a:t>Random Forest</a:t>
            </a:r>
            <a:endParaRPr lang="fr-FR" dirty="0"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rPr lang="fr-FR" dirty="0"/>
              <a:t>SVM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9756648" y="274320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40" y="1828800"/>
            <a:ext cx="1737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921240" y="1828800"/>
            <a:ext cx="17373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561319" y="20574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61319" y="21214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310896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Streamlit</a:t>
            </a:r>
            <a:br/>
            <a:r>
              <a:t>MVC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4297680"/>
            <a:ext cx="11521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443484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563EB"/>
                </a:solidFill>
              </a:defRPr>
            </a:pPr>
            <a:r>
              <a:t>Stack :  Python 3.11  •  pandas  •  scikit-learn  •  matplotlib  •  Streamlit  •  joblib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Sources de 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306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dirty="0"/>
              <a:t>Logs ARCHE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16 227 lignes brutes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Colonnes : heure, pseudo, contexte, composant, evenement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Période : Septembre - Décembre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16959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rPr dirty="0"/>
              <a:t>Notes </a:t>
            </a:r>
            <a:r>
              <a:rPr dirty="0" err="1"/>
              <a:t>Étudiants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99 étudiants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06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Colonnes : pseudo,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Seuil de réussite : 10/20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663440"/>
            <a:ext cx="5029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69829" y="4846320"/>
            <a:ext cx="42218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rPr dirty="0"/>
              <a:t> Jointure sur </a:t>
            </a:r>
            <a:r>
              <a:rPr dirty="0" err="1"/>
              <a:t>clé</a:t>
            </a:r>
            <a:r>
              <a:rPr dirty="0"/>
              <a:t> : pseudo  →  95 </a:t>
            </a:r>
            <a:r>
              <a:rPr dirty="0" err="1"/>
              <a:t>étudiants</a:t>
            </a:r>
            <a:r>
              <a:rPr dirty="0"/>
              <a:t> </a:t>
            </a:r>
            <a:r>
              <a:rPr dirty="0" err="1"/>
              <a:t>exploitables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79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1 : ETL - Nettoyage des 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Doublons exacts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→ 28 lignes supprimées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Bug double-enregistrement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Répétitions &lt; 5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→ 224 lignes supprimées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Double-clics utilisateur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→ Conversion datetime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Extraction features temporelles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03520"/>
            <a:ext cx="466344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7918" y="5440680"/>
            <a:ext cx="236776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Dataset final : 15 975 </a:t>
            </a:r>
            <a:r>
              <a:rPr dirty="0" err="1"/>
              <a:t>lignes</a:t>
            </a:r>
            <a:endParaRPr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F7FC6158-A0AF-DC24-3A20-C9C7D535B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234" y="2334165"/>
            <a:ext cx="6245845" cy="31065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Phase 2 : EDA - Analyse Exploratoire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760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7607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Axe 1 : Temporel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Pic : Novembre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Weekend &gt; Semaine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Heures actives : 8-11h, 14-22h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417320"/>
            <a:ext cx="5760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0" y="1417320"/>
            <a:ext cx="57607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6002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Axe 2 : Comportemental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58% actions sur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2316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46% consultations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8892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Forum peu utilisé (&lt;1%)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49039"/>
            <a:ext cx="5760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57607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Axe 3 : Individuel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1 à 1782 actions/étudiant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Médiane : 71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Corr. actions-note : 0.35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749039"/>
            <a:ext cx="5760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0" y="3749039"/>
            <a:ext cx="576072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9319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Axe 4 : Ressources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8912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108 ressources dispo.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5488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Moy. 23 consultées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12064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Corr. ressources-note : 0.44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8862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" y="2286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/>
              <a:t>Phase 2 : EDA - </a:t>
            </a:r>
            <a:r>
              <a:rPr dirty="0" err="1"/>
              <a:t>Visualisations</a:t>
            </a:r>
            <a:endParaRPr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5218116-049D-1B08-D1F5-C62B8E69A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6" y="1651636"/>
            <a:ext cx="5334422" cy="22617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851BC95-82DC-4CCF-9D9B-412613277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8869"/>
            <a:ext cx="4229406" cy="251863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E636C5A-57CB-3582-86F2-CC9E7BDB0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38" y="4255607"/>
            <a:ext cx="4608452" cy="228269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0EE0484-7C88-787B-91D4-CCE73339B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125723"/>
            <a:ext cx="5132888" cy="25424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FA10D5-692A-037C-05BE-180AF12804C8}"/>
              </a:ext>
            </a:extLst>
          </p:cNvPr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/>
              <a:t>Phase 2 : EDA - </a:t>
            </a:r>
            <a:r>
              <a:rPr dirty="0" err="1"/>
              <a:t>Visualisations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B4AF20-9EDE-BFDD-ACFB-40E72EE17CDB}"/>
              </a:ext>
            </a:extLst>
          </p:cNvPr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8086CA-2025-7624-13F7-B1BE3C1E5760}"/>
              </a:ext>
            </a:extLst>
          </p:cNvPr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1362B26-8451-24F4-B149-AEDECC48D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46" y="2847937"/>
            <a:ext cx="5932004" cy="194782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D1A1492-7049-80AB-A784-992525CB6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196" y="1710466"/>
            <a:ext cx="5482814" cy="456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73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2004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Feature Engineering - 10 Variables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9047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nb_actions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915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nb_jours_actifs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0662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intensite_moyenne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141732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63240" y="1417320"/>
            <a:ext cx="26517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149047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DIVERSITÉ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116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nb_ressources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41732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0" y="1417320"/>
            <a:ext cx="265176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149047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COMPORTEMENT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0116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nb_tests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35915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nb_consultations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70662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ratio_etude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141732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95360" y="1417320"/>
            <a:ext cx="265176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149047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TEMPOREL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0116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actions_weekend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35915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actions_soir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70662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taux_procrastination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Importance des Features (Random Forest)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EA8B61F-D47B-FD02-4CAD-792F783E8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064" y="4025342"/>
            <a:ext cx="4434272" cy="26406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20039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dirty="0" err="1"/>
              <a:t>Résultats</a:t>
            </a:r>
            <a:r>
              <a:rPr dirty="0"/>
              <a:t> - </a:t>
            </a:r>
            <a:r>
              <a:rPr dirty="0" err="1"/>
              <a:t>Comparaison</a:t>
            </a:r>
            <a:r>
              <a:rPr dirty="0"/>
              <a:t> des </a:t>
            </a:r>
            <a:r>
              <a:rPr dirty="0" err="1"/>
              <a:t>Modèles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840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84048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Régression Logistique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Accuracy Test : 58%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CV Score : 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AUC : 0.73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01983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rPr dirty="0"/>
              <a:t> CHAMPION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417320"/>
            <a:ext cx="3840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384048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Accuracy Test : 74%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3774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CV Score : 58%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108960"/>
            <a:ext cx="93461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rPr dirty="0"/>
              <a:t>Overfitting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Courbe ROC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4903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Matrice de Confusion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942430D8-4521-BC53-96D0-C900F0E2A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742" y="4040451"/>
            <a:ext cx="3658596" cy="2926877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3F42A2D7-6CEE-6928-14AD-6B442F159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129041"/>
            <a:ext cx="3778891" cy="25775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Architecture Application - Pattern MVC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32918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DCDC"/>
                </a:solidFill>
              </a:defRPr>
            </a:pPr>
            <a:r>
              <a:t>model.py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94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Classe Predictor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4203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Chargement .pkl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89503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predict()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68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46304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463040"/>
            <a:ext cx="329184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7830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DCDC"/>
                </a:solidFill>
              </a:defRPr>
            </a:pPr>
            <a:r>
              <a:t>view.py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94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Interface 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54203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Sélection étudiant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89503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Graphique 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468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46304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1463040"/>
            <a:ext cx="329184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1508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7830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DCDC"/>
                </a:solidFill>
              </a:defRPr>
            </a:pPr>
            <a:r>
              <a:t>controller.py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194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AppController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4203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89503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Flux données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4572000"/>
            <a:ext cx="4114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23360" y="4572000"/>
            <a:ext cx="41148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19032" y="4567159"/>
            <a:ext cx="15536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 err="1"/>
              <a:t>main.py</a:t>
            </a:r>
            <a:endParaRPr dirty="0"/>
          </a:p>
          <a:p>
            <a:pPr algn="ctr">
              <a:defRPr sz="1100">
                <a:solidFill>
                  <a:srgbClr val="64748B"/>
                </a:solidFill>
              </a:defRPr>
            </a:pPr>
            <a:endParaRPr lang="fr-FR" dirty="0"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rPr dirty="0"/>
              <a:t>Point </a:t>
            </a:r>
            <a:r>
              <a:rPr dirty="0" err="1"/>
              <a:t>d'entrée</a:t>
            </a:r>
            <a:r>
              <a:rPr dirty="0"/>
              <a:t> </a:t>
            </a:r>
            <a:r>
              <a:rPr dirty="0" err="1"/>
              <a:t>Streamlit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585216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1554480"/>
            <a:ext cx="5486400" cy="5486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937760" y="1371600"/>
            <a:ext cx="2286000" cy="22860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0" y="19659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rPr dirty="0"/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DÉMONSTRATION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6B6D4"/>
                </a:solidFill>
              </a:defRPr>
            </a:pPr>
            <a:r>
              <a:t>Application Streamlit de diagnostic étudiant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Sélection étudiant  →  Prédiction IA  →  Visualisation radar  →  Diagnostic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Conclusion &amp; Enseignements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1247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45919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rPr dirty="0" err="1"/>
              <a:t>Facteur</a:t>
            </a:r>
            <a:r>
              <a:rPr dirty="0"/>
              <a:t> #1 : </a:t>
            </a:r>
            <a:r>
              <a:rPr dirty="0" err="1"/>
              <a:t>Intensité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 (16.4%)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La qualité prime sur la quantité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11247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9144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Facteur #2 : Diversité des ressources (13.6%)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Explorer = réussir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11247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9144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Modèle champion : Régression Logistique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AUC 0.73, CV 65%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11247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Random Forest : Overfitting détecté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Test 74% &gt; CV 58%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49240"/>
            <a:ext cx="11247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91440" cy="8229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Limitation : Dataset restreint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95 étudiants - généralisation à valider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Perspectives &amp; Améliorations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91639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rPr dirty="0" err="1"/>
              <a:t>Enrichissement</a:t>
            </a:r>
            <a:r>
              <a:rPr dirty="0"/>
              <a:t> données : </a:t>
            </a:r>
            <a:r>
              <a:rPr dirty="0" err="1"/>
              <a:t>Intégrer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semestres</a:t>
            </a:r>
            <a:r>
              <a:rPr dirty="0"/>
              <a:t> / </a:t>
            </a:r>
            <a:r>
              <a:rPr dirty="0" err="1"/>
              <a:t>cours</a:t>
            </a:r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640080" y="2468879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Feature engineering avancé : Séquences temporelles, embeddings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4612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Modèles avancés : XGBoost, Neural Networks, LSTM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2336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Alertes temps réel : Prédiction en cours de semestre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Déploiement : Containerisation Docker, CI/CD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1558</Words>
  <Application>Microsoft Macintosh PowerPoint</Application>
  <PresentationFormat>Grand écran</PresentationFormat>
  <Paragraphs>215</Paragraphs>
  <Slides>15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Sidi Teyib Beddy El Moustapha</cp:lastModifiedBy>
  <cp:revision>3</cp:revision>
  <dcterms:created xsi:type="dcterms:W3CDTF">2013-01-27T09:14:16Z</dcterms:created>
  <dcterms:modified xsi:type="dcterms:W3CDTF">2026-02-27T11:41:28Z</dcterms:modified>
  <cp:category/>
</cp:coreProperties>
</file>